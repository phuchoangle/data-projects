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Layer 1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9</c:v>
                </c:pt>
                <c:pt idx="5">
                  <c:v>21</c:v>
                </c:pt>
                <c:pt idx="6">
                  <c:v>21</c:v>
                </c:pt>
                <c:pt idx="7">
                  <c:v>23</c:v>
                </c:pt>
                <c:pt idx="8">
                  <c:v>36</c:v>
                </c:pt>
                <c:pt idx="9">
                  <c:v>43</c:v>
                </c:pt>
                <c:pt idx="10">
                  <c:v>59</c:v>
                </c:pt>
                <c:pt idx="11">
                  <c:v>86</c:v>
                </c:pt>
                <c:pt idx="12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0E-564B-A370-604569B014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Layer 2</c:v>
                </c:pt>
              </c:strCache>
            </c:strRef>
          </c:tx>
          <c:spPr>
            <a:solidFill>
              <a:srgbClr val="2E6B9E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9</c:v>
                </c:pt>
                <c:pt idx="9">
                  <c:v>5</c:v>
                </c:pt>
                <c:pt idx="10">
                  <c:v>21</c:v>
                </c:pt>
                <c:pt idx="11">
                  <c:v>81</c:v>
                </c:pt>
                <c:pt idx="1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0E-564B-A370-604569B014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Layer 3</c:v>
                </c:pt>
              </c:strCache>
            </c:strRef>
          </c:tx>
          <c:spPr>
            <a:solidFill>
              <a:srgbClr val="4A9BD9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</c:v>
                </c:pt>
                <c:pt idx="11">
                  <c:v>24</c:v>
                </c:pt>
                <c:pt idx="1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0E-564B-A370-604569B01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4F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D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4F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Layer 1</c:v>
                </c:pt>
              </c:strCache>
            </c:strRef>
          </c:tx>
          <c:spPr>
            <a:solidFill>
              <a:srgbClr val="1B3A5C"/>
            </a:solidFill>
            <a:effectLst/>
          </c:spPr>
          <c:cat>
            <c:strRef>
              <c:f>Sheet1!$A$2:$A$14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8</c:v>
                </c:pt>
                <c:pt idx="2">
                  <c:v>10</c:v>
                </c:pt>
                <c:pt idx="3">
                  <c:v>13</c:v>
                </c:pt>
                <c:pt idx="4">
                  <c:v>22</c:v>
                </c:pt>
                <c:pt idx="5">
                  <c:v>43</c:v>
                </c:pt>
                <c:pt idx="6">
                  <c:v>64</c:v>
                </c:pt>
                <c:pt idx="7">
                  <c:v>87</c:v>
                </c:pt>
                <c:pt idx="8">
                  <c:v>123</c:v>
                </c:pt>
                <c:pt idx="9">
                  <c:v>166</c:v>
                </c:pt>
                <c:pt idx="10">
                  <c:v>225</c:v>
                </c:pt>
                <c:pt idx="11">
                  <c:v>311</c:v>
                </c:pt>
                <c:pt idx="12">
                  <c:v>338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F6-A04A-ADBF-9E3D0A8856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Layer 2</c:v>
                </c:pt>
              </c:strCache>
            </c:strRef>
          </c:tx>
          <c:spPr>
            <a:solidFill>
              <a:srgbClr val="2E6B9E"/>
            </a:solidFill>
            <a:effectLst/>
          </c:spPr>
          <c:cat>
            <c:strRef>
              <c:f>Sheet1!$A$2:$A$14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11</c:v>
                </c:pt>
                <c:pt idx="9">
                  <c:v>16</c:v>
                </c:pt>
                <c:pt idx="10">
                  <c:v>37</c:v>
                </c:pt>
                <c:pt idx="11">
                  <c:v>118</c:v>
                </c:pt>
                <c:pt idx="12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F6-A04A-ADBF-9E3D0A8856A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Layer 3</c:v>
                </c:pt>
              </c:strCache>
            </c:strRef>
          </c:tx>
          <c:spPr>
            <a:solidFill>
              <a:srgbClr val="4A9BD9"/>
            </a:solidFill>
            <a:effectLst/>
          </c:spPr>
          <c:cat>
            <c:strRef>
              <c:f>Sheet1!$A$2:$A$14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  <c:pt idx="12">
                  <c:v>2025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</c:v>
                </c:pt>
                <c:pt idx="11">
                  <c:v>26</c:v>
                </c:pt>
                <c:pt idx="12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F6-A04A-ADBF-9E3D0A8856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4F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D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4F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%</c:v>
                </c:pt>
              </c:strCache>
            </c:strRef>
          </c:tx>
          <c:spPr>
            <a:solidFill>
              <a:srgbClr val="2E6B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D4F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2025*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48.8</c:v>
                </c:pt>
                <c:pt idx="1">
                  <c:v>39.1</c:v>
                </c:pt>
                <c:pt idx="2">
                  <c:v>50.6</c:v>
                </c:pt>
                <c:pt idx="3">
                  <c:v>35.799999999999997</c:v>
                </c:pt>
                <c:pt idx="4">
                  <c:v>45.1</c:v>
                </c:pt>
                <c:pt idx="5">
                  <c:v>72.3</c:v>
                </c:pt>
                <c:pt idx="6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9F-124E-BA35-2F21C1D7B3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D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AA9-9648-9C21-2A5ED3023631}"/>
              </c:ext>
            </c:extLst>
          </c:dPt>
          <c:dPt>
            <c:idx val="1"/>
            <c:bubble3D val="0"/>
            <c:spPr>
              <a:solidFill>
                <a:srgbClr val="2E6B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A9-9648-9C21-2A5ED3023631}"/>
              </c:ext>
            </c:extLst>
          </c:dPt>
          <c:dPt>
            <c:idx val="2"/>
            <c:bubble3D val="0"/>
            <c:spPr>
              <a:solidFill>
                <a:srgbClr val="4A9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AA9-9648-9C21-2A5ED302363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AA9-9648-9C21-2A5ED302363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AA9-9648-9C21-2A5ED302363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AA9-9648-9C21-2A5ED302363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Layer 1 (338)</c:v>
                </c:pt>
                <c:pt idx="1">
                  <c:v>Layer 2 (131)</c:v>
                </c:pt>
                <c:pt idx="2">
                  <c:v>Layer 3 (29)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338</c:v>
                </c:pt>
                <c:pt idx="1">
                  <c:v>131</c:v>
                </c:pt>
                <c:pt idx="2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A9-9648-9C21-2A5ED30236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Chains Supported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D4F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Axelar</c:v>
                </c:pt>
                <c:pt idx="1">
                  <c:v>Wormhole</c:v>
                </c:pt>
                <c:pt idx="2">
                  <c:v>Chainlink CCIP</c:v>
                </c:pt>
                <c:pt idx="3">
                  <c:v>LayerZero</c:v>
                </c:pt>
                <c:pt idx="4">
                  <c:v>Hyperlane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35</c:v>
                </c:pt>
                <c:pt idx="2">
                  <c:v>50</c:v>
                </c:pt>
                <c:pt idx="3">
                  <c:v>87</c:v>
                </c:pt>
                <c:pt idx="4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1A-0449-830B-8CE20ADB77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8D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LayerZero</c:v>
                </c:pt>
              </c:strCache>
            </c:strRef>
          </c:tx>
          <c:spPr>
            <a:ln w="31750" cap="flat">
              <a:solidFill>
                <a:srgbClr val="1B3A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A5C"/>
              </a:solidFill>
              <a:ln w="9525" cap="flat">
                <a:solidFill>
                  <a:srgbClr val="1B3A5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9</c:v>
                </c:pt>
                <c:pt idx="2">
                  <c:v>34</c:v>
                </c:pt>
                <c:pt idx="3">
                  <c:v>76</c:v>
                </c:pt>
                <c:pt idx="4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43-FA4F-BC93-C599FDE4FB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Wormhole</c:v>
                </c:pt>
              </c:strCache>
            </c:strRef>
          </c:tx>
          <c:spPr>
            <a:ln w="31750" cap="flat">
              <a:solidFill>
                <a:srgbClr val="2E6B9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6B9E"/>
              </a:solidFill>
              <a:ln w="9525" cap="flat">
                <a:solidFill>
                  <a:srgbClr val="2E6B9E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19</c:v>
                </c:pt>
                <c:pt idx="2">
                  <c:v>27</c:v>
                </c:pt>
                <c:pt idx="3">
                  <c:v>31</c:v>
                </c:pt>
                <c:pt idx="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43-FA4F-BC93-C599FDE4FB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Hyperlane</c:v>
                </c:pt>
              </c:strCache>
            </c:strRef>
          </c:tx>
          <c:spPr>
            <a:ln w="31750" cap="flat">
              <a:solidFill>
                <a:srgbClr val="4A9B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9BD9"/>
              </a:solidFill>
              <a:ln w="9525" cap="flat">
                <a:solidFill>
                  <a:srgbClr val="4A9BD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14</c:v>
                </c:pt>
                <c:pt idx="3">
                  <c:v>102</c:v>
                </c:pt>
                <c:pt idx="4">
                  <c:v>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443-FA4F-BC93-C599FDE4FBB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Axelar</c:v>
                </c:pt>
              </c:strCache>
            </c:strRef>
          </c:tx>
          <c:spPr>
            <a:ln w="31750" cap="flat">
              <a:solidFill>
                <a:srgbClr val="7CB9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B9E8"/>
              </a:solidFill>
              <a:ln w="9525" cap="flat">
                <a:solidFill>
                  <a:srgbClr val="7CB9E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17</c:v>
                </c:pt>
                <c:pt idx="3">
                  <c:v>19</c:v>
                </c:pt>
                <c:pt idx="4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443-FA4F-BC93-C599FDE4FBB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CCIP</c:v>
                </c:pt>
              </c:strCache>
            </c:strRef>
          </c:tx>
          <c:spPr>
            <a:ln w="31750" cap="flat">
              <a:solidFill>
                <a:srgbClr val="A8D4F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8D4F0"/>
              </a:solidFill>
              <a:ln w="9525" cap="flat">
                <a:solidFill>
                  <a:srgbClr val="A8D4F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7</c:v>
                </c:pt>
                <c:pt idx="3">
                  <c:v>25</c:v>
                </c:pt>
                <c:pt idx="4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443-FA4F-BC93-C599FDE4FB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D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F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D12-D44A-B652-452A575F417C}"/>
              </c:ext>
            </c:extLst>
          </c:dPt>
          <c:dPt>
            <c:idx val="1"/>
            <c:bubble3D val="0"/>
            <c:spPr>
              <a:solidFill>
                <a:srgbClr val="C8D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12-D44A-B652-452A575F417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D4F5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D12-D44A-B652-452A575F417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D4F5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D12-D44A-B652-452A575F417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Covered (185)</c:v>
                </c:pt>
                <c:pt idx="1">
                  <c:v>Unserviced (313)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185</c:v>
                </c:pt>
                <c:pt idx="1">
                  <c:v>313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12-D44A-B652-452A575F41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193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MASTER">
    <p:bg>
      <p:bgPr>
        <a:solidFill>
          <a:srgbClr val="2E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Interoperability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Opportunity, Coverage Gap, and Strategic Direction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Concero Leadership  |  May 2025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4526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Phuc Le  |  Market Research &amp;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 / 17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at a glance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and approach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Growth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expansion 2013-2025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Composition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distribution and rollup types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Projection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model to 2027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Landscape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major interoperability providers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Gap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3657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market problem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next steps for Concero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7315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Blockchain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06040" y="914400"/>
            <a:ext cx="1920240" cy="73152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6B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Platforms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1920240" cy="73152"/>
          </a:xfrm>
          <a:prstGeom prst="rect">
            <a:avLst/>
          </a:prstGeom>
          <a:solidFill>
            <a:srgbClr val="4A9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03720" y="914400"/>
            <a:ext cx="192024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Unserviced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063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Finding: </a:t>
            </a:r>
            <a:r>
              <a:rPr lang="en-US" sz="1100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interoperability market faces a structural supply-demand imbalance. Blockchain platforms are being created faster than providers can integrate them. The coverage gap is widening in absolute terms, representing a significant market opportunity for Concero.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 / 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Methodology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1 Platforms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CoinGecko, DeFiLlama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2 Platforms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L2Beat, DeFiLlama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3 / Appchains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L2Beat, Protocol docs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LayerZero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 documentation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Wormhole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 documentation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Hyperlane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 documentation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Axelar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 documentation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Chainlink CCIP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 documentation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r>
              <a:rPr lang="en-US" sz="1000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 from public registries and protocol docs. Platforms categorized by layer architecture. Provider coverage mapped via official chain support lists. Growth projections use exponential curve fitting on 2017-2025 data.</a:t>
            </a:r>
            <a:endParaRPr lang="en-US" sz="1000" dirty="0"/>
          </a:p>
        </p:txBody>
      </p:sp>
      <p:sp>
        <p:nvSpPr>
          <p:cNvPr id="3" name="Text 2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Growth: New Platforms by Year</a:t>
            </a:r>
            <a:endParaRPr lang="en-US" sz="1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77240"/>
          <a:ext cx="8595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saw 191 new platforms launched, a 133% increase over 2023. Layer 2 rollups drove the majority of growth.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 /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Ecosystem Growth</a:t>
            </a:r>
            <a:endParaRPr lang="en-US" sz="1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77240"/>
          <a:ext cx="8595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 has grown from 22 platforms in 2017 to 498 in 2025, with an inflection point beginning in 2021.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 /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Ecosystem Growth Rate</a:t>
            </a:r>
            <a:endParaRPr lang="en-US" sz="1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77240"/>
          <a:ext cx="8595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growth rate (2019-2024): ~48.6%. 2025 partial year data (through May).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 /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A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distribution and rollup type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8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Composition (2025)</a:t>
            </a:r>
            <a:endParaRPr lang="en-US" sz="1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7724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Rollup Type Breakdown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Count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Count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Optimistic Rollup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ZK Rollup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 Chain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and Layer 3 together now account for 32.1% of the ecosystem, up from 0% in 2019.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9 /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Growth Projection (Exponential Model)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66928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822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280160"/>
          <a:ext cx="256032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(actual)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(proj.)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 (proj.)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~1,055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256032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rate:
</a:t>
            </a:r>
            <a:r>
              <a:rPr lang="en-US" sz="1000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~34% annual
(exponential fit)
</a:t>
            </a:r>
            <a:r>
              <a:rPr lang="en-US" sz="10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Doubling time:
</a:t>
            </a:r>
            <a:r>
              <a:rPr lang="en-US" sz="1000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years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10 /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A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major interoperability protocols compared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11 /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Chain Coverage (2025)</a:t>
            </a:r>
            <a:endParaRPr lang="en-US" sz="1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772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97280"/>
          <a:ext cx="3200400" cy="1356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Hyperlane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Permissionless ISM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LayerZero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 Light Node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CCIP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DON-based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Wormhole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Guardian Network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Axelar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D4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Proof-of-Stake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Hyperlane leads in coverage due to its permissionless deployment model, allowing any chain to deploy without protocol approval.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12 /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Growth Timeline</a:t>
            </a:r>
            <a:endParaRPr lang="en-US" sz="1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77240"/>
          <a:ext cx="8595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Hyperlane's permissionless model drove rapid scaling in 2024, adding 88 chains in a single year.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13 /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Coverage Gap: Core Market Problem</a:t>
            </a:r>
            <a:endParaRPr lang="en-US" sz="1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7724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754880" y="91440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754880" y="914400"/>
            <a:ext cx="54864" cy="32918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0" y="1097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62.9%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0292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blockchain platforms have zero cross-chain messaging support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absolute number of unserviced chains has grown from 64 (2019) to 313 (2025). Even as providers scale, the ecosystem grows faster.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gap represents Concero's core market opportunity.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14 /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Unserviced Market Growth Trend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coverage rate improved from ~100% unserviced (2019) to 68% (2025), the absolute gap grew from 64 to 313 chains.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15 /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4864" cy="658368"/>
          </a:xfrm>
          <a:prstGeom prst="rect">
            <a:avLst/>
          </a:prstGeom>
          <a:solidFill>
            <a:srgbClr val="4A9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Coverage Gap Narrative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115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62.9% unserviced rate in investor and partner communications. Frame Concero as solving a structural market problem.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54864" cy="658368"/>
          </a:xfrm>
          <a:prstGeom prst="rect">
            <a:avLst/>
          </a:prstGeom>
          <a:solidFill>
            <a:srgbClr val="4A9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6184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Automated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18653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per-chain integration time from weeks to hours. This is the key competitive differentiator against incumbent providers.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54864" cy="658368"/>
          </a:xfrm>
          <a:prstGeom prst="rect">
            <a:avLst/>
          </a:prstGeom>
          <a:solidFill>
            <a:srgbClr val="4A9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32257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3682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Layer 2/3 Growth Segment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61518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of 2024 launches were L2/L3. Early coverage of these chains positions Concero as the default interop layer.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54864" cy="658368"/>
          </a:xfrm>
          <a:prstGeom prst="rect">
            <a:avLst/>
          </a:prstGeom>
          <a:solidFill>
            <a:srgbClr val="4A9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07238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118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RaaS Providers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364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Caldera, Conduit, AltLayer to provide automatic cross-chain support at chain deployment.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822192"/>
            <a:ext cx="54864" cy="658368"/>
          </a:xfrm>
          <a:prstGeom prst="rect">
            <a:avLst/>
          </a:prstGeom>
          <a:solidFill>
            <a:srgbClr val="4A9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8221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867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Coverage Tracking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market intelligence + thought leadership positioning. Reinforces the opportunity narrative publicly.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16 / 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26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Phuc Le –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Reaserch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 @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Concero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Labs| 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lh.phucc@gmail.com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17 / 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793</Words>
  <Application>Microsoft Macintosh PowerPoint</Application>
  <PresentationFormat>On-screen Show (16:9)</PresentationFormat>
  <Paragraphs>197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Interoperability Market Analysis</dc:title>
  <dc:subject>PptxGenJS Presentation</dc:subject>
  <dc:creator>Phuc Hoang Le</dc:creator>
  <cp:lastModifiedBy>Hoang Phuc Le</cp:lastModifiedBy>
  <cp:revision>2</cp:revision>
  <dcterms:created xsi:type="dcterms:W3CDTF">2026-05-23T14:29:02Z</dcterms:created>
  <dcterms:modified xsi:type="dcterms:W3CDTF">2026-05-23T15:34:09Z</dcterms:modified>
</cp:coreProperties>
</file>