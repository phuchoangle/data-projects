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($M)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2024-11</c:v>
                  </c:pt>
                  <c:pt idx="1">
                    <c:v>2024-12</c:v>
                  </c:pt>
                  <c:pt idx="2">
                    <c:v>2025-01</c:v>
                  </c:pt>
                  <c:pt idx="3">
                    <c:v>2025-02</c:v>
                  </c:pt>
                  <c:pt idx="4">
                    <c:v>2025-03</c:v>
                  </c:pt>
                  <c:pt idx="5">
                    <c:v>2025-04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448</c:v>
                </c:pt>
                <c:pt idx="1">
                  <c:v>1080</c:v>
                </c:pt>
                <c:pt idx="2">
                  <c:v>602</c:v>
                </c:pt>
                <c:pt idx="3">
                  <c:v>940</c:v>
                </c:pt>
                <c:pt idx="4">
                  <c:v>2572</c:v>
                </c:pt>
                <c:pt idx="5">
                  <c:v>1303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($M)</c:v>
                </c:pt>
              </c:strCache>
            </c:strRef>
          </c:tx>
          <c:spPr>
            <a:solidFill>
              <a:srgbClr val="2E6B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Finance</c:v>
                  </c:pt>
                  <c:pt idx="1">
                    <c:v>Social</c:v>
                  </c:pt>
                  <c:pt idx="2">
                    <c:v>DeFi</c:v>
                  </c:pt>
                  <c:pt idx="3">
                    <c:v>Blockchain Service</c:v>
                  </c:pt>
                  <c:pt idx="4">
                    <c:v>Blockchain</c:v>
                  </c:pt>
                  <c:pt idx="5">
                    <c:v>RWA (Real World Assets)</c:v>
                  </c:pt>
                  <c:pt idx="6">
                    <c:v>Infrastructure</c:v>
                  </c:pt>
                  <c:pt idx="7">
                    <c:v>Gaming</c:v>
                  </c:pt>
                  <c:pt idx="8">
                    <c:v>Artificial Intelligence</c:v>
                  </c:pt>
                  <c:pt idx="9">
                    <c:v>Liquid Staking Protocols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2662</c:v>
                </c:pt>
                <c:pt idx="1">
                  <c:v>918</c:v>
                </c:pt>
                <c:pt idx="2">
                  <c:v>598</c:v>
                </c:pt>
                <c:pt idx="3">
                  <c:v>583</c:v>
                </c:pt>
                <c:pt idx="4">
                  <c:v>528</c:v>
                </c:pt>
                <c:pt idx="5">
                  <c:v>423</c:v>
                </c:pt>
                <c:pt idx="6">
                  <c:v>416</c:v>
                </c:pt>
                <c:pt idx="7">
                  <c:v>225</c:v>
                </c:pt>
                <c:pt idx="8">
                  <c:v>109</c:v>
                </c:pt>
                <c:pt idx="9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Blockchain Service</c:v>
                  </c:pt>
                  <c:pt idx="1">
                    <c:v>DeFi</c:v>
                  </c:pt>
                  <c:pt idx="2">
                    <c:v>Infrastructure</c:v>
                  </c:pt>
                  <c:pt idx="3">
                    <c:v>Gaming</c:v>
                  </c:pt>
                  <c:pt idx="4">
                    <c:v>Blockchain</c:v>
                  </c:pt>
                  <c:pt idx="5">
                    <c:v>Finance</c:v>
                  </c:pt>
                  <c:pt idx="6">
                    <c:v>Social</c:v>
                  </c:pt>
                  <c:pt idx="7">
                    <c:v>DEX</c:v>
                  </c:pt>
                  <c:pt idx="8">
                    <c:v>Layer-2</c:v>
                  </c:pt>
                  <c:pt idx="9">
                    <c:v>Artificial Intelligence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</c:v>
                </c:pt>
                <c:pt idx="1">
                  <c:v>55</c:v>
                </c:pt>
                <c:pt idx="2">
                  <c:v>50</c:v>
                </c:pt>
                <c:pt idx="3">
                  <c:v>30</c:v>
                </c:pt>
                <c:pt idx="4">
                  <c:v>30</c:v>
                </c:pt>
                <c:pt idx="5">
                  <c:v>22</c:v>
                </c:pt>
                <c:pt idx="6">
                  <c:v>17</c:v>
                </c:pt>
                <c:pt idx="7">
                  <c:v>11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Deal Count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</c:dPt>
          <c:dPt>
            <c:idx val="1"/>
            <c:bubble3D val="0"/>
            <c:spPr>
              <a:solidFill>
                <a:srgbClr val="2E6B9E"/>
              </a:solidFill>
              <a:effectLst/>
            </c:spPr>
          </c:dPt>
          <c:dPt>
            <c:idx val="2"/>
            <c:bubble3D val="0"/>
            <c:spPr>
              <a:solidFill>
                <a:srgbClr val="3A7FC1"/>
              </a:solidFill>
              <a:effectLst/>
            </c:spPr>
          </c:dPt>
          <c:dPt>
            <c:idx val="3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bubble3D val="0"/>
            <c:spPr>
              <a:solidFill>
                <a:srgbClr val="6BAAE0"/>
              </a:solidFill>
              <a:effectLst/>
            </c:spPr>
          </c:dPt>
          <c:dPt>
            <c:idx val="5"/>
            <c:bubble3D val="0"/>
            <c:spPr>
              <a:solidFill>
                <a:srgbClr val="8BBDE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Funding Round</c:v>
                </c:pt>
                <c:pt idx="1">
                  <c:v>Seed Round</c:v>
                </c:pt>
                <c:pt idx="2">
                  <c:v>Pre-seed</c:v>
                </c:pt>
                <c:pt idx="3">
                  <c:v>Series A</c:v>
                </c:pt>
                <c:pt idx="4">
                  <c:v>Strategic Round</c:v>
                </c:pt>
                <c:pt idx="5">
                  <c:v>Private Sale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111</c:v>
                </c:pt>
                <c:pt idx="1">
                  <c:v>104</c:v>
                </c:pt>
                <c:pt idx="2">
                  <c:v>42</c:v>
                </c:pt>
                <c:pt idx="3">
                  <c:v>41</c:v>
                </c:pt>
                <c:pt idx="4">
                  <c:v>39</c:v>
                </c:pt>
                <c:pt idx="5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Capital ($M)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Capital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</c:dPt>
          <c:dPt>
            <c:idx val="1"/>
            <c:bubble3D val="0"/>
            <c:spPr>
              <a:solidFill>
                <a:srgbClr val="2E6B9E"/>
              </a:solidFill>
              <a:effectLst/>
            </c:spPr>
          </c:dPt>
          <c:dPt>
            <c:idx val="2"/>
            <c:bubble3D val="0"/>
            <c:spPr>
              <a:solidFill>
                <a:srgbClr val="3A7FC1"/>
              </a:solidFill>
              <a:effectLst/>
            </c:spPr>
          </c:dPt>
          <c:dPt>
            <c:idx val="3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bubble3D val="0"/>
            <c:spPr>
              <a:solidFill>
                <a:srgbClr val="6BAAE0"/>
              </a:solidFill>
              <a:effectLst/>
            </c:spPr>
          </c:dPt>
          <c:dPt>
            <c:idx val="5"/>
            <c:bubble3D val="0"/>
            <c:spPr>
              <a:solidFill>
                <a:srgbClr val="8BBDE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Funding Round</c:v>
                </c:pt>
                <c:pt idx="1">
                  <c:v>Seed Round</c:v>
                </c:pt>
                <c:pt idx="2">
                  <c:v>Pre-seed</c:v>
                </c:pt>
                <c:pt idx="3">
                  <c:v>Series A</c:v>
                </c:pt>
                <c:pt idx="4">
                  <c:v>Strategic Round</c:v>
                </c:pt>
                <c:pt idx="5">
                  <c:v>Private Sale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4147</c:v>
                </c:pt>
                <c:pt idx="1">
                  <c:v>592</c:v>
                </c:pt>
                <c:pt idx="2">
                  <c:v>142</c:v>
                </c:pt>
                <c:pt idx="3">
                  <c:v>699</c:v>
                </c:pt>
                <c:pt idx="4">
                  <c:v>1265</c:v>
                </c:pt>
                <c:pt idx="5">
                  <c:v>100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Blockchain Service</c:v>
                </c:pt>
              </c:strCache>
            </c:strRef>
          </c:tx>
          <c:spPr>
            <a:solidFill>
              <a:srgbClr val="1B3A5C"/>
            </a:solidFill>
            <a:ln w="25400" cap="flat">
              <a:solidFill>
                <a:srgbClr val="1B3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2024-11</c:v>
                  </c:pt>
                  <c:pt idx="1">
                    <c:v>2024-12</c:v>
                  </c:pt>
                  <c:pt idx="2">
                    <c:v>2025-01</c:v>
                  </c:pt>
                  <c:pt idx="3">
                    <c:v>2025-02</c:v>
                  </c:pt>
                  <c:pt idx="4">
                    <c:v>2025-03</c:v>
                  </c:pt>
                  <c:pt idx="5">
                    <c:v>2025-04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17</c:v>
                </c:pt>
                <c:pt idx="3">
                  <c:v>13</c:v>
                </c:pt>
                <c:pt idx="4">
                  <c:v>10</c:v>
                </c:pt>
                <c:pt idx="5">
                  <c:v>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DeFi</c:v>
                </c:pt>
              </c:strCache>
            </c:strRef>
          </c:tx>
          <c:spPr>
            <a:solidFill>
              <a:srgbClr val="2E6B9E"/>
            </a:solidFill>
            <a:ln w="25400" cap="flat">
              <a:solidFill>
                <a:srgbClr val="2E6B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B9E"/>
              </a:solidFill>
              <a:ln w="9525" cap="flat">
                <a:solidFill>
                  <a:srgbClr val="2E6B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2024-11</c:v>
                  </c:pt>
                  <c:pt idx="1">
                    <c:v>2024-12</c:v>
                  </c:pt>
                  <c:pt idx="2">
                    <c:v>2025-01</c:v>
                  </c:pt>
                  <c:pt idx="3">
                    <c:v>2025-02</c:v>
                  </c:pt>
                  <c:pt idx="4">
                    <c:v>2025-03</c:v>
                  </c:pt>
                  <c:pt idx="5">
                    <c:v>2025-04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12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Infrastructure</c:v>
                </c:pt>
              </c:strCache>
            </c:strRef>
          </c:tx>
          <c:spPr>
            <a:solidFill>
              <a:srgbClr val="4A90D9"/>
            </a:solidFill>
            <a:ln w="25400" cap="flat">
              <a:solidFill>
                <a:srgbClr val="4A90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2024-11</c:v>
                  </c:pt>
                  <c:pt idx="1">
                    <c:v>2024-12</c:v>
                  </c:pt>
                  <c:pt idx="2">
                    <c:v>2025-01</c:v>
                  </c:pt>
                  <c:pt idx="3">
                    <c:v>2025-02</c:v>
                  </c:pt>
                  <c:pt idx="4">
                    <c:v>2025-03</c:v>
                  </c:pt>
                  <c:pt idx="5">
                    <c:v>2025-04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10</c:v>
                </c:pt>
                <c:pt idx="3">
                  <c:v>13</c:v>
                </c:pt>
                <c:pt idx="4">
                  <c:v>7</c:v>
                </c:pt>
                <c:pt idx="5">
                  <c:v>10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Gaming</c:v>
                </c:pt>
              </c:strCache>
            </c:strRef>
          </c:tx>
          <c:spPr>
            <a:solidFill>
              <a:srgbClr val="E8913A"/>
            </a:solidFill>
            <a:ln w="25400" cap="flat">
              <a:solidFill>
                <a:srgbClr val="E89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13A"/>
              </a:solidFill>
              <a:ln w="9525" cap="flat">
                <a:solidFill>
                  <a:srgbClr val="E89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2024-11</c:v>
                  </c:pt>
                  <c:pt idx="1">
                    <c:v>2024-12</c:v>
                  </c:pt>
                  <c:pt idx="2">
                    <c:v>2025-01</c:v>
                  </c:pt>
                  <c:pt idx="3">
                    <c:v>2025-02</c:v>
                  </c:pt>
                  <c:pt idx="4">
                    <c:v>2025-03</c:v>
                  </c:pt>
                  <c:pt idx="5">
                    <c:v>2025-04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Blockchain</c:v>
                </c:pt>
              </c:strCache>
            </c:strRef>
          </c:tx>
          <c:spPr>
            <a:solidFill>
              <a:srgbClr val="27AE60"/>
            </a:solidFill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2024-11</c:v>
                  </c:pt>
                  <c:pt idx="1">
                    <c:v>2024-12</c:v>
                  </c:pt>
                  <c:pt idx="2">
                    <c:v>2025-01</c:v>
                  </c:pt>
                  <c:pt idx="3">
                    <c:v>2025-02</c:v>
                  </c:pt>
                  <c:pt idx="4">
                    <c:v>2025-03</c:v>
                  </c:pt>
                  <c:pt idx="5">
                    <c:v>2025-04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8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Multiple</c:v>
                </c:pt>
              </c:strCache>
            </c:strRef>
          </c:tx>
          <c:spPr>
            <a:solidFill>
              <a:srgbClr val="2E6B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Lending Platform</c:v>
                  </c:pt>
                  <c:pt idx="1">
                    <c:v>Marketing</c:v>
                  </c:pt>
                  <c:pt idx="2">
                    <c:v>Yield Aggregator</c:v>
                  </c:pt>
                  <c:pt idx="3">
                    <c:v>Stablecoin</c:v>
                  </c:pt>
                  <c:pt idx="4">
                    <c:v>Infrastructure</c:v>
                  </c:pt>
                  <c:pt idx="5">
                    <c:v>Trading Bot</c:v>
                  </c:pt>
                  <c:pt idx="6">
                    <c:v>RWA (Real World Assets)</c:v>
                  </c:pt>
                  <c:pt idx="7">
                    <c:v>NFT</c:v>
                  </c:pt>
                  <c:pt idx="8">
                    <c:v>Meme</c:v>
                  </c:pt>
                  <c:pt idx="9">
                    <c:v>Liquid Staking Protocols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18.166666666666668</c:v>
                </c:pt>
                <c:pt idx="1">
                  <c:v>14.285714285714286</c:v>
                </c:pt>
                <c:pt idx="2">
                  <c:v>11.25</c:v>
                </c:pt>
                <c:pt idx="3">
                  <c:v>10.285714285714285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Investments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Animoca Brands</c:v>
                  </c:pt>
                  <c:pt idx="1">
                    <c:v>Coinbase Ventures</c:v>
                  </c:pt>
                  <c:pt idx="2">
                    <c:v>Amber Group</c:v>
                  </c:pt>
                  <c:pt idx="3">
                    <c:v>Robot Ventures</c:v>
                  </c:pt>
                  <c:pt idx="4">
                    <c:v>Framework Ventures</c:v>
                  </c:pt>
                  <c:pt idx="5">
                    <c:v>GSR Markets (GSR)</c:v>
                  </c:pt>
                  <c:pt idx="6">
                    <c:v>Selini Capital</c:v>
                  </c:pt>
                  <c:pt idx="7">
                    <c:v>The Spartan Group</c:v>
                  </c:pt>
                  <c:pt idx="8">
                    <c:v>Big Brain Holdings</c:v>
                  </c:pt>
                  <c:pt idx="9">
                    <c:v>Presto Labs</c:v>
                  </c:pt>
                  <c:pt idx="10">
                    <c:v>Polychain Capital</c:v>
                  </c:pt>
                  <c:pt idx="11">
                    <c:v>Hack VC</c:v>
                  </c:pt>
                  <c:pt idx="12">
                    <c:v>Foresight Ventures</c:v>
                  </c:pt>
                  <c:pt idx="13">
                    <c:v>Borderless Capital</c:v>
                  </c:pt>
                  <c:pt idx="14">
                    <c:v>Anagram Crypto</c:v>
                  </c:pt>
                  <c:pt idx="15">
                    <c:v>MH Ventures</c:v>
                  </c:pt>
                  <c:pt idx="16">
                    <c:v>Symbolic Capital</c:v>
                  </c:pt>
                  <c:pt idx="17">
                    <c:v>OKX Ventures</c:v>
                  </c:pt>
                  <c:pt idx="18">
                    <c:v>Manifold Trading</c:v>
                  </c:pt>
                  <c:pt idx="19">
                    <c:v>echo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</c:v>
                </c:pt>
                <c:pt idx="1">
                  <c:v>20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11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9</c:v>
                </c:pt>
                <c:pt idx="19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Infrastructure Deals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Robot Ventures</c:v>
                  </c:pt>
                  <c:pt idx="1">
                    <c:v>1kx</c:v>
                  </c:pt>
                  <c:pt idx="2">
                    <c:v>Big Brain Holdings</c:v>
                  </c:pt>
                  <c:pt idx="3">
                    <c:v>Animoca Brands</c:v>
                  </c:pt>
                  <c:pt idx="4">
                    <c:v>Selini Capital</c:v>
                  </c:pt>
                  <c:pt idx="5">
                    <c:v>Foresight Ventures</c:v>
                  </c:pt>
                  <c:pt idx="6">
                    <c:v>Anatoly Yakovenko</c:v>
                  </c:pt>
                  <c:pt idx="7">
                    <c:v>Blockchain Builders Fund</c:v>
                  </c:pt>
                  <c:pt idx="8">
                    <c:v>Strobe (Prev. BlockTower Capital)</c:v>
                  </c:pt>
                  <c:pt idx="9">
                    <c:v>Escape Velocity</c:v>
                  </c:pt>
                  <c:pt idx="10">
                    <c:v>cyber Fund</c:v>
                  </c:pt>
                  <c:pt idx="11">
                    <c:v>Credibly Neutral</c:v>
                  </c:pt>
                  <c:pt idx="12">
                    <c:v>Brevan Howard</c:v>
                  </c:pt>
                  <c:pt idx="13">
                    <c:v>CV VC</c:v>
                  </c:pt>
                  <c:pt idx="14">
                    <c:v>Coinbase Ventures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</c:dPt>
          <c:dPt>
            <c:idx val="1"/>
            <c:bubble3D val="0"/>
            <c:spPr>
              <a:solidFill>
                <a:srgbClr val="2E6B9E"/>
              </a:solidFill>
              <a:effectLst/>
            </c:spPr>
          </c:dPt>
          <c:dPt>
            <c:idx val="2"/>
            <c:bubble3D val="0"/>
            <c:spPr>
              <a:solidFill>
                <a:srgbClr val="3A7FC1"/>
              </a:solidFill>
              <a:effectLst/>
            </c:spPr>
          </c:dPt>
          <c:dPt>
            <c:idx val="3"/>
            <c:bubble3D val="0"/>
            <c:spPr>
              <a:solidFill>
                <a:srgbClr val="4A90D9"/>
              </a:solidFill>
              <a:effectLst/>
            </c:spPr>
          </c:dPt>
          <c:dPt>
            <c:idx val="4"/>
            <c:bubble3D val="0"/>
            <c:spPr>
              <a:solidFill>
                <a:srgbClr val="6BAA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Seed Round</c:v>
                </c:pt>
                <c:pt idx="1">
                  <c:v>Funding Round</c:v>
                </c:pt>
                <c:pt idx="2">
                  <c:v>Series A</c:v>
                </c:pt>
                <c:pt idx="3">
                  <c:v>Pre-seed</c:v>
                </c:pt>
                <c:pt idx="4">
                  <c:v>Strategic Round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</c:v>
                </c:pt>
                <c:pt idx="1">
                  <c:v>14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Co-investments</c:v>
                </c:pt>
              </c:strCache>
            </c:strRef>
          </c:tx>
          <c:spPr>
            <a:solidFill>
              <a:srgbClr val="2E6B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Alchemy + Samsung NEXT</c:v>
                  </c:pt>
                  <c:pt idx="1">
                    <c:v>Fenbushi Capital + Robot Ventu...</c:v>
                  </c:pt>
                  <c:pt idx="2">
                    <c:v>Big Brain Holdings + CMT Digit...</c:v>
                  </c:pt>
                  <c:pt idx="3">
                    <c:v>Daniel Lubarov + Robot Venture...</c:v>
                  </c:pt>
                  <c:pt idx="4">
                    <c:v>1kx + Nascent</c:v>
                  </c:pt>
                  <c:pt idx="5">
                    <c:v>1kx + Robot Ventures</c:v>
                  </c:pt>
                  <c:pt idx="6">
                    <c:v>Abstract Ventures + Alchemy</c:v>
                  </c:pt>
                  <c:pt idx="7">
                    <c:v>Abstract Ventures + Animoca Br...</c:v>
                  </c:pt>
                  <c:pt idx="8">
                    <c:v>Abstract Ventures + Bankless</c:v>
                  </c:pt>
                  <c:pt idx="9">
                    <c:v>Abstract Ventures + Blockdaemo...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6B9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VC Investment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Report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2024 - Apr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Messari / CryptoRank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Phuc 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54864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rounds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54864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Deployed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$6.9B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fundraise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88720"/>
            <a:ext cx="54864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Investors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1,298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VCs &amp; angels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26080"/>
            <a:ext cx="54864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$21M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2926080"/>
            <a:ext cx="54864" cy="14630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Deals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5661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 of total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926080"/>
            <a:ext cx="54864" cy="1463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 Size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investors/deal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data aggregated from Messari and CryptoRank, covering publicly disclosed funding rounds in blockchain and crypto.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1945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2024 - Apr 2025. Dataset includes 338 unique rounds across 326 projects.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1546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standardized (32 final categories from 60+ raw labels). Figures in millions USD. Co-investment inferred from shared round participation.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41148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public rounds only. Undisclosed deals and stealth investments not represented. Some rounds may have additional undisclosed participants.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Investment Activity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deployment varies significantly month to month, reflecting deal pipeline timing and market sentiment shifts.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Deployed by Category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accounts for $416M (</a:t>
            </a:r>
            <a:pPr indent="0" marL="0">
              <a:buNone/>
            </a:pPr>
            <a:r>
              <a:rPr lang="en-US" sz="11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 of total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representing a significant and growing allocation.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Count by Category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Stage Analysis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rounds dominate by deal count, while Series A and strategic rounds capture the majority of capital, reflecting larger ticket sizes at later stages.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Trends Over Time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Multiples by Category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multiples indicate categories where investors assign premium valuations relative to the amount raised, often reflecting stronger growth expectations or scarcity.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20 Most Active VCs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Co-Investment Patterns (Top 15 VCs)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</a:tblGrid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Animoca Bran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Coinbase Ven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Amber Group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Robot Ventur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Framework Ve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GSR Markets 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Selini Capit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The Spartan 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Big Brain Ho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Presto Labs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Animoca Brands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Coinbase Ventur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Amber Group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Robot Ventures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Framework Ventu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GSR Markets (GS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Selini Capital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The Spartan Gro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Big Brain Holdi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3A5C"/>
                          </a:solidFill>
                        </a:rPr>
                        <a:t>Presto Labs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A3A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show the number of shared deals between VC pairs. Stronger co-investment relationships indicate potential syndicate partners.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Largest Funding Rounds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371600"/>
                <a:gridCol w="13716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Raise ($M)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Investors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Binance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$2000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Funding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Finance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MGX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Rumble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$775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Strategic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Social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Tether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Securitize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Funding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RWA (Real World Assets)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Mantle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Planck Network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Funding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Blockchain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Rollman Management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Figure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Funding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Finance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Sixth Street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ZenMEV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$140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Strategic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DeFi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VC VentureX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ENA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$100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Private Sale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DeFi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MEXC Global (Privcode Capital), Polychai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Metaplanet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$87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Funding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Finance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EVO Fund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Bitwise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Funding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Finance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Electric Capital, ParaFi Capital, Genera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</a:rPr>
                        <a:t>Raise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$63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Strategic Round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Blockchain Service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</a:rPr>
                        <a:t>Selini Capital, Raj Gokal, GSR Markets (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for infrastructure startups seeking venture funding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2377440" cy="914400"/>
          </a:xfrm>
          <a:prstGeom prst="rect">
            <a:avLst/>
          </a:prstGeom>
          <a:solidFill>
            <a:srgbClr val="2E6B9E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0" y="3931920"/>
            <a:ext cx="2377440" cy="914400"/>
          </a:xfrm>
          <a:prstGeom prst="rect">
            <a:avLst/>
          </a:prstGeom>
          <a:solidFill>
            <a:srgbClr val="2E6B9E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Deployed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$416M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2377440" cy="914400"/>
          </a:xfrm>
          <a:prstGeom prst="rect">
            <a:avLst/>
          </a:prstGeom>
          <a:solidFill>
            <a:srgbClr val="2E6B9E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Deals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14.8%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VCs Investing in Infrastructure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VCs have demonstrated a consistent thesis around blockchain infrastructure. They should be top-priority targets for infrastructure startups raising capital.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Deals by Stage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73152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474720" cy="274320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0" y="1645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investment is heavily concentrated at the Seed stage, indicating the sector remains early-stage. For startups approaching Series A, differentiation through traction metrics (active users, TVL, partnerships) is critical to stand out.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Co-Investment Pairs in Infrastructure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Securing one partner from a frequent pair significantly increases the chance of bringing in the other. Target these pairs when building your syndicate.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Specialist Investors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with the highest percentage of deals in Infrastructure (min. 5 total deals)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Investor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Infra Focus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Infra Deals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Deals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Anatoly Yakovenko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Archetype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Blockchain Builders Fund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Brevan Howard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Credibly Neutral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Escape Velocity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cyber Fund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1kx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33.3%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Digital Currency Group (DCG)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33.3%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3A"/>
                          </a:solidFill>
                        </a:rPr>
                        <a:t>Pantera Capital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913A"/>
                          </a:solidFill>
                        </a:rPr>
                        <a:t>33.3%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investors have a clear infrastructure thesis. Prioritize them for outreach as they understand the space and can provide strategic value beyond capital.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 Market Concentration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Investors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1,298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VCs for 50% Coverage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VCs for 80% Coverage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826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74320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Syndicate 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investors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VC landscape is highly fragmented. Most investors participate in only 1-2 deals during this period, making it critical to target the most active and relevant investors for efficient fundraising.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 for Infrastructure Startups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Right VCs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outreach on the top infrastructure-focused investors identified in this report. Robot Ventures, Coinbase Ventures, and Animoca Brands lead in infrastructure deal count.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Syndicate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co-investment pairs as a unit. Securing one partner from a frequent pair (e.g., Robot Ventures + Maven 11) significantly increases likelihood of closing the other.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Traction Metrics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most infra deals at Seed stage, Series A candidates need clear differentiation: active users, TVL, developer adoption, or strategic partnerships.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Against Valuation Norms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commands a 10x median valuation multiple. Prepare valuation justification benchmarked against comparable recent rounds.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D6E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Your Raise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389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deal flow patterns. Periods with higher capital deployment suggest more receptive market conditions for closing rounds.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VC Investment Intelligence Report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2024 - Apr 2025 | Prepared by Phuc 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sourced from Messari / CryptoRank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and code available on GitHub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VC Investment Intelligence Report</dc:title>
  <dc:subject>PptxGenJS Presentation</dc:subject>
  <dc:creator>Phuc Le</dc:creator>
  <cp:lastModifiedBy>Phuc Le</cp:lastModifiedBy>
  <cp:revision>1</cp:revision>
  <dcterms:created xsi:type="dcterms:W3CDTF">2026-05-24T00:41:32Z</dcterms:created>
  <dcterms:modified xsi:type="dcterms:W3CDTF">2026-05-24T00:41:32Z</dcterms:modified>
</cp:coreProperties>
</file>