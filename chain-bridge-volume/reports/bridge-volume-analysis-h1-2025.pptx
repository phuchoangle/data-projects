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8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($M)</c:v>
                </c:pt>
              </c:strCache>
            </c:strRef>
          </c:tx>
          <c:spPr>
            <a:solidFill>
              <a:srgbClr val="0478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Ethereum</c:v>
                </c:pt>
                <c:pt idx="1">
                  <c:v>Arbitrum</c:v>
                </c:pt>
                <c:pt idx="2">
                  <c:v>Avalanche</c:v>
                </c:pt>
                <c:pt idx="3">
                  <c:v>Solana</c:v>
                </c:pt>
                <c:pt idx="4">
                  <c:v>BSC</c:v>
                </c:pt>
                <c:pt idx="5">
                  <c:v>Sei</c:v>
                </c:pt>
                <c:pt idx="6">
                  <c:v>Optimism</c:v>
                </c:pt>
                <c:pt idx="7">
                  <c:v>Polygon</c:v>
                </c:pt>
                <c:pt idx="8">
                  <c:v>Sui</c:v>
                </c:pt>
                <c:pt idx="9">
                  <c:v>Sonic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15107</c:v>
                </c:pt>
                <c:pt idx="1">
                  <c:v>7833</c:v>
                </c:pt>
                <c:pt idx="2">
                  <c:v>2365</c:v>
                </c:pt>
                <c:pt idx="3">
                  <c:v>1891</c:v>
                </c:pt>
                <c:pt idx="4">
                  <c:v>1033</c:v>
                </c:pt>
                <c:pt idx="5">
                  <c:v>736</c:v>
                </c:pt>
                <c:pt idx="6">
                  <c:v>715</c:v>
                </c:pt>
                <c:pt idx="7">
                  <c:v>472</c:v>
                </c:pt>
                <c:pt idx="8">
                  <c:v>291</c:v>
                </c:pt>
                <c:pt idx="9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1-2B4E-A118-5C3C811778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Flow ($M)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Avalanche</c:v>
                </c:pt>
                <c:pt idx="1">
                  <c:v>Sei</c:v>
                </c:pt>
                <c:pt idx="2">
                  <c:v>Blast</c:v>
                </c:pt>
                <c:pt idx="3">
                  <c:v>Sui</c:v>
                </c:pt>
                <c:pt idx="4">
                  <c:v>Polygon</c:v>
                </c:pt>
                <c:pt idx="5">
                  <c:v>Linea</c:v>
                </c:pt>
                <c:pt idx="6">
                  <c:v>Flow</c:v>
                </c:pt>
                <c:pt idx="7">
                  <c:v>Kujira</c:v>
                </c:pt>
                <c:pt idx="8">
                  <c:v>Hyperliquid</c:v>
                </c:pt>
                <c:pt idx="9">
                  <c:v>Scroll</c:v>
                </c:pt>
                <c:pt idx="10">
                  <c:v>Optimism</c:v>
                </c:pt>
                <c:pt idx="11">
                  <c:v>BSC</c:v>
                </c:pt>
                <c:pt idx="12">
                  <c:v>Solana</c:v>
                </c:pt>
                <c:pt idx="13">
                  <c:v>Arbitrum</c:v>
                </c:pt>
                <c:pt idx="14">
                  <c:v>Ethereum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1356</c:v>
                </c:pt>
                <c:pt idx="1">
                  <c:v>152</c:v>
                </c:pt>
                <c:pt idx="2">
                  <c:v>211</c:v>
                </c:pt>
                <c:pt idx="3">
                  <c:v>129</c:v>
                </c:pt>
                <c:pt idx="4">
                  <c:v>108</c:v>
                </c:pt>
                <c:pt idx="5">
                  <c:v>70</c:v>
                </c:pt>
                <c:pt idx="6">
                  <c:v>-29</c:v>
                </c:pt>
                <c:pt idx="7">
                  <c:v>-30</c:v>
                </c:pt>
                <c:pt idx="8">
                  <c:v>-33</c:v>
                </c:pt>
                <c:pt idx="9">
                  <c:v>-69</c:v>
                </c:pt>
                <c:pt idx="10">
                  <c:v>-105</c:v>
                </c:pt>
                <c:pt idx="11">
                  <c:v>-140</c:v>
                </c:pt>
                <c:pt idx="12">
                  <c:v>-355</c:v>
                </c:pt>
                <c:pt idx="13">
                  <c:v>-2421</c:v>
                </c:pt>
                <c:pt idx="14">
                  <c:v>-5958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4E-3542-916E-75046C83B9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Ethereum</c:v>
                </c:pt>
              </c:strCache>
            </c:strRef>
          </c:tx>
          <c:spPr>
            <a:ln w="31750" cap="flat">
              <a:solidFill>
                <a:srgbClr val="064E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4E3B"/>
              </a:solidFill>
              <a:ln w="9525" cap="flat">
                <a:solidFill>
                  <a:srgbClr val="064E3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3424000000</c:v>
                </c:pt>
                <c:pt idx="1">
                  <c:v>2795000000</c:v>
                </c:pt>
                <c:pt idx="2">
                  <c:v>2143000000</c:v>
                </c:pt>
                <c:pt idx="3">
                  <c:v>2046000000</c:v>
                </c:pt>
                <c:pt idx="4">
                  <c:v>2098000000</c:v>
                </c:pt>
                <c:pt idx="5">
                  <c:v>2600000000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EA-454E-9B65-301E5E48F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Arbitrum</c:v>
                </c:pt>
              </c:strCache>
            </c:strRef>
          </c:tx>
          <c:spPr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1772000000</c:v>
                </c:pt>
                <c:pt idx="1">
                  <c:v>645000000</c:v>
                </c:pt>
                <c:pt idx="2">
                  <c:v>889000000</c:v>
                </c:pt>
                <c:pt idx="3">
                  <c:v>952000000</c:v>
                </c:pt>
                <c:pt idx="4">
                  <c:v>1429000000</c:v>
                </c:pt>
                <c:pt idx="5">
                  <c:v>2145000000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EA-454E-9B65-301E5E48F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Avalanche</c:v>
                </c:pt>
              </c:strCache>
            </c:strRef>
          </c:tx>
          <c:spPr>
            <a:ln w="31750" cap="flat">
              <a:solidFill>
                <a:srgbClr val="34D3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622000000</c:v>
                </c:pt>
                <c:pt idx="1">
                  <c:v>369000000</c:v>
                </c:pt>
                <c:pt idx="2">
                  <c:v>346000000</c:v>
                </c:pt>
                <c:pt idx="3">
                  <c:v>176000000</c:v>
                </c:pt>
                <c:pt idx="4">
                  <c:v>443000000</c:v>
                </c:pt>
                <c:pt idx="5">
                  <c:v>409000000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EA-454E-9B65-301E5E48F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Solana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604000000</c:v>
                </c:pt>
                <c:pt idx="1">
                  <c:v>300000000</c:v>
                </c:pt>
                <c:pt idx="2">
                  <c:v>176000000</c:v>
                </c:pt>
                <c:pt idx="3">
                  <c:v>184000000</c:v>
                </c:pt>
                <c:pt idx="4">
                  <c:v>355000000</c:v>
                </c:pt>
                <c:pt idx="5">
                  <c:v>273000000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FEA-454E-9B65-301E5E48FE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BSC</c:v>
                </c:pt>
              </c:strCache>
            </c:strRef>
          </c:tx>
          <c:spPr>
            <a:ln w="31750" cap="flat">
              <a:solidFill>
                <a:srgbClr val="6B72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163000000</c:v>
                </c:pt>
                <c:pt idx="1">
                  <c:v>206000000</c:v>
                </c:pt>
                <c:pt idx="2">
                  <c:v>211000000</c:v>
                </c:pt>
                <c:pt idx="3">
                  <c:v>143000000</c:v>
                </c:pt>
                <c:pt idx="4">
                  <c:v>143000000</c:v>
                </c:pt>
                <c:pt idx="5">
                  <c:v>168000000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FEA-454E-9B65-301E5E48F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billions"/>
          <c:dispUnitsLbl/>
        </c:dispUnits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($M)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LayerZero</c:v>
                </c:pt>
                <c:pt idx="1">
                  <c:v>Circle CCTP</c:v>
                </c:pt>
                <c:pt idx="2">
                  <c:v>Hyperliquid</c:v>
                </c:pt>
                <c:pt idx="3">
                  <c:v>Stargate</c:v>
                </c:pt>
                <c:pt idx="4">
                  <c:v>Wormhole</c:v>
                </c:pt>
                <c:pt idx="5">
                  <c:v>Across</c:v>
                </c:pt>
                <c:pt idx="6">
                  <c:v>Meson</c:v>
                </c:pt>
                <c:pt idx="7">
                  <c:v>deBridge</c:v>
                </c:pt>
                <c:pt idx="8">
                  <c:v>IBC</c:v>
                </c:pt>
                <c:pt idx="9">
                  <c:v>Arbitrum Bridge</c:v>
                </c:pt>
                <c:pt idx="10">
                  <c:v>Squid (Axelar)</c:v>
                </c:pt>
                <c:pt idx="11">
                  <c:v>Polygon PoS</c:v>
                </c:pt>
                <c:pt idx="12">
                  <c:v>USDT0</c:v>
                </c:pt>
                <c:pt idx="13">
                  <c:v>Optimism GW</c:v>
                </c:pt>
                <c:pt idx="14">
                  <c:v>Orbiter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26373</c:v>
                </c:pt>
                <c:pt idx="1">
                  <c:v>19291</c:v>
                </c:pt>
                <c:pt idx="2">
                  <c:v>16490</c:v>
                </c:pt>
                <c:pt idx="3">
                  <c:v>11373</c:v>
                </c:pt>
                <c:pt idx="4">
                  <c:v>8517</c:v>
                </c:pt>
                <c:pt idx="5">
                  <c:v>6437</c:v>
                </c:pt>
                <c:pt idx="6">
                  <c:v>5953</c:v>
                </c:pt>
                <c:pt idx="7">
                  <c:v>5380</c:v>
                </c:pt>
                <c:pt idx="8">
                  <c:v>5305</c:v>
                </c:pt>
                <c:pt idx="9">
                  <c:v>3748</c:v>
                </c:pt>
                <c:pt idx="10">
                  <c:v>2055</c:v>
                </c:pt>
                <c:pt idx="11">
                  <c:v>2054</c:v>
                </c:pt>
                <c:pt idx="12">
                  <c:v>1787</c:v>
                </c:pt>
                <c:pt idx="13">
                  <c:v>1690</c:v>
                </c:pt>
                <c:pt idx="14">
                  <c:v>1655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54-9341-A0F7-D4117C6F0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5B-F146-B27A-5BD752762AFD}"/>
              </c:ext>
            </c:extLst>
          </c:dPt>
          <c:dPt>
            <c:idx val="1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5B-F146-B27A-5BD752762AF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45B-F146-B27A-5BD752762AF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45B-F146-B27A-5BD752762AF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Messaging (43.5%)</c:v>
                </c:pt>
                <c:pt idx="1">
                  <c:v>Bridge (56.5%)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55777</c:v>
                </c:pt>
                <c:pt idx="1">
                  <c:v>72527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5B-F146-B27A-5BD752762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LayerZero</c:v>
                </c:pt>
              </c:strCache>
            </c:strRef>
          </c:tx>
          <c:spPr>
            <a:ln w="25400" cap="flat">
              <a:solidFill>
                <a:srgbClr val="064E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4E3B"/>
              </a:solidFill>
              <a:ln w="9525" cap="flat">
                <a:solidFill>
                  <a:srgbClr val="064E3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3129</c:v>
                </c:pt>
                <c:pt idx="2">
                  <c:v>5115</c:v>
                </c:pt>
                <c:pt idx="3">
                  <c:v>5557</c:v>
                </c:pt>
                <c:pt idx="4">
                  <c:v>7310</c:v>
                </c:pt>
                <c:pt idx="5">
                  <c:v>5262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12-D241-AB92-3ABA421B40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Circle CCTP</c:v>
                </c:pt>
              </c:strCache>
            </c:strRef>
          </c:tx>
          <c:spPr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4475</c:v>
                </c:pt>
                <c:pt idx="1">
                  <c:v>2905</c:v>
                </c:pt>
                <c:pt idx="2">
                  <c:v>2367</c:v>
                </c:pt>
                <c:pt idx="3">
                  <c:v>3101</c:v>
                </c:pt>
                <c:pt idx="4">
                  <c:v>3467</c:v>
                </c:pt>
                <c:pt idx="5">
                  <c:v>2977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12-D241-AB92-3ABA421B409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Wormhole</c:v>
                </c:pt>
              </c:strCache>
            </c:strRef>
          </c:tx>
          <c:spPr>
            <a:ln w="25400" cap="flat">
              <a:solidFill>
                <a:srgbClr val="34D3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2815</c:v>
                </c:pt>
                <c:pt idx="1">
                  <c:v>1525</c:v>
                </c:pt>
                <c:pt idx="2">
                  <c:v>1054</c:v>
                </c:pt>
                <c:pt idx="3">
                  <c:v>1109</c:v>
                </c:pt>
                <c:pt idx="4">
                  <c:v>1110</c:v>
                </c:pt>
                <c:pt idx="5">
                  <c:v>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F12-D241-AB92-3ABA421B409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Hyperlane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104</c:v>
                </c:pt>
                <c:pt idx="3">
                  <c:v>221</c:v>
                </c:pt>
                <c:pt idx="4">
                  <c:v>408</c:v>
                </c:pt>
                <c:pt idx="5">
                  <c:v>864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F12-D241-AB92-3ABA421B4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AU" sz="1100" b="0" i="0" u="none" strike="noStrike">
                <a:solidFill>
                  <a:srgbClr val="374151"/>
                </a:solidFill>
                <a:latin typeface="Arial"/>
              </a:rPr>
              <a:t>Monthly HHI Index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HHI Index</c:v>
                </c:pt>
              </c:strCache>
            </c:strRef>
          </c:tx>
          <c:spPr>
            <a:solidFill>
              <a:srgbClr val="0478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2805</c:v>
                </c:pt>
                <c:pt idx="1">
                  <c:v>3485</c:v>
                </c:pt>
                <c:pt idx="2">
                  <c:v>2962</c:v>
                </c:pt>
                <c:pt idx="3">
                  <c:v>3189</c:v>
                </c:pt>
                <c:pt idx="4">
                  <c:v>2524</c:v>
                </c:pt>
                <c:pt idx="5">
                  <c:v>2990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E3-374A-8593-309B745302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AU" sz="1100" b="0" i="0" u="none" strike="noStrike">
                <a:solidFill>
                  <a:srgbClr val="374151"/>
                </a:solidFill>
                <a:latin typeface="Arial"/>
              </a:rPr>
              <a:t>Top 3 Chain Market Share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3 Share (%)</c:v>
                </c:pt>
              </c:strCache>
            </c:strRef>
          </c:tx>
          <c:spPr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77.599999999999994</c:v>
                </c:pt>
                <c:pt idx="1">
                  <c:v>77</c:v>
                </c:pt>
                <c:pt idx="2">
                  <c:v>77.599999999999994</c:v>
                </c:pt>
                <c:pt idx="3">
                  <c:v>78.7</c:v>
                </c:pt>
                <c:pt idx="4">
                  <c:v>76.2</c:v>
                </c:pt>
                <c:pt idx="5">
                  <c:v>82.5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8D-6B46-A202-C0BC8C0DDDD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%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Arbitrum</c:v>
                </c:pt>
                <c:pt idx="1">
                  <c:v>Sei</c:v>
                </c:pt>
                <c:pt idx="2">
                  <c:v>Sonic</c:v>
                </c:pt>
                <c:pt idx="3">
                  <c:v>Optimism</c:v>
                </c:pt>
                <c:pt idx="4">
                  <c:v>Scroll</c:v>
                </c:pt>
                <c:pt idx="5">
                  <c:v>Ethereum</c:v>
                </c:pt>
                <c:pt idx="6">
                  <c:v>BSC</c:v>
                </c:pt>
                <c:pt idx="7">
                  <c:v>Avalanche</c:v>
                </c:pt>
                <c:pt idx="8">
                  <c:v>Solana</c:v>
                </c:pt>
                <c:pt idx="9">
                  <c:v>Linea</c:v>
                </c:pt>
                <c:pt idx="10">
                  <c:v>Polygon</c:v>
                </c:pt>
                <c:pt idx="11">
                  <c:v>Blast</c:v>
                </c:pt>
                <c:pt idx="12">
                  <c:v>Sui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36.9</c:v>
                </c:pt>
                <c:pt idx="1">
                  <c:v>34.1</c:v>
                </c:pt>
                <c:pt idx="2">
                  <c:v>8.3000000000000007</c:v>
                </c:pt>
                <c:pt idx="3">
                  <c:v>-8.1</c:v>
                </c:pt>
                <c:pt idx="4">
                  <c:v>-13.8</c:v>
                </c:pt>
                <c:pt idx="5">
                  <c:v>-19.399999999999999</c:v>
                </c:pt>
                <c:pt idx="6">
                  <c:v>-21.8</c:v>
                </c:pt>
                <c:pt idx="7">
                  <c:v>-23.2</c:v>
                </c:pt>
                <c:pt idx="8">
                  <c:v>-24.8</c:v>
                </c:pt>
                <c:pt idx="9">
                  <c:v>-32.4</c:v>
                </c:pt>
                <c:pt idx="10">
                  <c:v>-40.9</c:v>
                </c:pt>
                <c:pt idx="11">
                  <c:v>-62</c:v>
                </c:pt>
                <c:pt idx="12">
                  <c:v>-63.7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C4-3943-82FD-0EC4814FE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r>
              <a:rPr lang="en-AU" sz="1000" b="0" i="0" u="none" strike="noStrike">
                <a:solidFill>
                  <a:srgbClr val="374151"/>
                </a:solidFill>
                <a:latin typeface="Arial"/>
              </a:rPr>
              <a:t>Monthly Fee Revenue at 3 bps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 at 3 bps ($M)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7.1070000000000002</c:v>
                </c:pt>
                <c:pt idx="1">
                  <c:v>5.734</c:v>
                </c:pt>
                <c:pt idx="2">
                  <c:v>5.5220000000000002</c:v>
                </c:pt>
                <c:pt idx="3">
                  <c:v>6.0149999999999997</c:v>
                </c:pt>
                <c:pt idx="4">
                  <c:v>7.6130000000000004</c:v>
                </c:pt>
                <c:pt idx="5">
                  <c:v>6.4989999999999997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EE-D648-A9CB-2CAE33F80D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176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Cross-Chain Bridge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Analysis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2025  |  January - June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2286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Phuc Le  |  Research Lead  |  Concero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chains  |  76 protocols  |  181 days of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$128.3B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Volume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5176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Share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volume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2,993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HHI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avg, highly concentrated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0972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$77M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TAM (3 bps)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cross-chain bridge market processed $128.3B in H1 2025 across 76 protocols.</a:t>
            </a:r>
            <a:endParaRPr lang="en-US" sz="1200" dirty="0"/>
          </a:p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3 chains (Ethereum, Arbitrum, Avalanche) capture 77-83% of all volume, resulting in a highly concentrated market (HHI avg 2,993).</a:t>
            </a:r>
            <a:endParaRPr lang="en-US" sz="1200" dirty="0"/>
          </a:p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protocols (LayerZero, Circle CCTP, Wormhole, Hyperlane) now handle 43.5% of total volume, signaling a structural shift from purpose-built bridges to generalized messaging infrastructure.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competitive 3 bps fee rate, the total addressable fee revenue is approximately $77M annualized.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and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DefiLlama</a:t>
            </a:r>
            <a:endParaRPr lang="en-US" sz="11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 for aggregated cross-chain bridge volumes. Daily granularity across 92 chains and 76 protocols.</a:t>
            </a:r>
            <a:endParaRPr lang="en-US" sz="11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Dune Analytics</a:t>
            </a:r>
            <a:endParaRPr lang="en-US" sz="11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transaction data for validation and cross-referencing of bridge volumes.</a:t>
            </a:r>
            <a:endParaRPr lang="en-US" sz="11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CoinGecko / CoinMarketCap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for stablecoin context and market cap references.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</a:t>
            </a: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 days (Jan 1 - Jun 30, 2025)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Chains: </a:t>
            </a: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blockchain networks tracked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Protocols: </a:t>
            </a: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bridge and messaging protocols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Concentration: </a:t>
            </a: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(Herfindahl-Hirschman Index) computed monthly from chain volume shares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Growth: </a:t>
            </a: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vs Q1 percentage change for each chain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modeling: </a:t>
            </a: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analysis at 1, 2, 3, 5, 10 bps rates applied to total volume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Volume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chains by total bridge volume, H1 2025, in $million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Capital Flows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inflow and outflow chains by net volume, H1 2025 (negative = capital leaving) in $million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538243239"/>
              </p:ext>
            </p:extLst>
          </p:nvPr>
        </p:nvGraphicFramePr>
        <p:xfrm>
          <a:off x="548640" y="1280160"/>
          <a:ext cx="82296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Chain Volume Trends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988572882"/>
              </p:ext>
            </p:extLst>
          </p:nvPr>
        </p:nvGraphicFramePr>
        <p:xfrm>
          <a:off x="548640" y="1005840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15 Bridge and Messaging Protocols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005840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68580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= messaging protocol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 vs Bridge Protocol Split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754880" y="1005840"/>
          <a:ext cx="4023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4754880" y="822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Messaging Protocol Trends ($M)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Concentration (HHI)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&gt; 2,500 = highly concentrated market. The cross-chain bridge market remains highly concentrated throughout H1 2025.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3840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1280160"/>
          <a:ext cx="4023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vs Q1 Chain Growth Rates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005840"/>
          <a:ext cx="8229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 Revenue Opportunity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 Rate (bps)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Fee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Annualized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Messaging Share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$5.6M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$38.5M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$77.0M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$64.2M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$128.3M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bps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$128.3M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$256.6M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$55.8M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/>
        </p:nvGraphicFramePr>
        <p:xfrm>
          <a:off x="548640" y="3200400"/>
          <a:ext cx="804672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Positioning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Ethereum and Arbitrum as primary chains. These two chains account for over 60% of total bridge volume and represent the highest-value routing opportunities.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Infrastructure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protocols handle 43.5% of volume and are growing. Integrate with LayerZero and Circle CCTP first, then expand to Wormhole and Hyperlane.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Targets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Arbitrum (+36.9% QoQ) and Sei (+34.1% QoQ) as growth chains. Monitor declining chains (Sui -63.7%, Blast -62%) for risk signals.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Sizing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6118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 bps, the annualized fee TAM is $77M. Messaging protocols alone represent $33.5M. Focus on high-volume corridors for maximum fee capture.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Factors and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Coverage Gaps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chains and protocols may underreport volume due to data aggregation lag or incomplete API coverage. Cross-referencing with Dune Analytics mitigates but does not eliminate this risk.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Volatility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volumes correlate with crypto market sentiment. A prolonged downturn would reduce total addressable volume and fee revenue projections. Daily volume standard deviation is $286M against a $709M daily average.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Ethereum and Arbitrum means any disruption to these chains (regulatory, technical) would disproportionately impact the market.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Assumptions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modeling uses uniform bps rates across all protocols. Actual fees vary by protocol, route, and volume tier. The 3 bps base case is competitive but may not reflect real pricing.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Methodology Details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Calculation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B0C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= sum of squared market shares (in %) for all chains with &gt;0.1% share. Computed monthly to track concentration dynamics.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Capital Flows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as the cumulative sum of daily net bridge volume for each chain. Negative = more capital leaving than entering the chain.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Classification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B0C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protocols (LayerZero, CCTP, Wormhole, Hyperlane) are classified separately from bridge protocols based on their architectural approach to cross-chain communication.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Modeling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0C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at 1, 2, 3, 5, 10 bps applied uniformly. Annualized by multiplying H1 by 2. Split between messaging and bridge volumes.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474720" y="2560320"/>
            <a:ext cx="219456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Phuc 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Lead  |  Concero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DefiLlama, Dune Analytics, CoinGecko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858</Words>
  <Application>Microsoft Macintosh PowerPoint</Application>
  <PresentationFormat>On-screen Show (16:9)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Cross-Chain Bridge Volume Analysis - H1 2025</dc:title>
  <dc:subject>PptxGenJS Presentation</dc:subject>
  <dc:creator>Phuc Hoang Le</dc:creator>
  <cp:lastModifiedBy>Hoang Phuc Le</cp:lastModifiedBy>
  <cp:revision>2</cp:revision>
  <dcterms:created xsi:type="dcterms:W3CDTF">2026-05-23T07:42:15Z</dcterms:created>
  <dcterms:modified xsi:type="dcterms:W3CDTF">2026-05-23T11:40:01Z</dcterms:modified>
</cp:coreProperties>
</file>